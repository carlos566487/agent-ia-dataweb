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Fragmentos</c:v>
                </c:pt>
              </c:strCache>
            </c:strRef>
          </c:tx>
          <c:spPr>
            <a:solidFill>
              <a:srgbClr val="CF15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Operacional
(PDF)</c:v>
                  </c:pt>
                  <c:pt idx="1">
                    <c:v>Módulo Caixa
(Markdown)</c:v>
                  </c:pt>
                  <c:pt idx="2">
                    <c:v>Garantia/Devolução
(Markdown)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35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2926080"/>
            <a:ext cx="5943600" cy="5943600"/>
          </a:xfrm>
          <a:prstGeom prst="ellipse">
            <a:avLst/>
          </a:prstGeom>
          <a:solidFill>
            <a:srgbClr val="9A0F2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645920"/>
            <a:ext cx="3840480" cy="3840480"/>
          </a:xfrm>
          <a:prstGeom prst="ellipse">
            <a:avLst/>
          </a:prstGeom>
          <a:solidFill>
            <a:srgbClr val="F6C54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DINIZ FRANCHISING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IA DataWeb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virtual inteligente para o Módulo Caixa do sistema DataWeb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611880"/>
            <a:ext cx="2011680" cy="0"/>
          </a:xfrm>
          <a:prstGeom prst="line">
            <a:avLst/>
          </a:prstGeom>
          <a:noFill/>
          <a:ln w="38100">
            <a:solidFill>
              <a:srgbClr val="CF15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ao Comitê de TI e Diretores de Loja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no dia a dia da loja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CF15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extenso e denso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Manual Operacional do Módulo Caixa é um PDF extenso e detalhado — difícil de consultar rapidamente durante o atendimento.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40280"/>
            <a:ext cx="594360" cy="594360"/>
          </a:xfrm>
          <a:prstGeom prst="ellipse">
            <a:avLst/>
          </a:prstGeom>
          <a:solidFill>
            <a:srgbClr val="CF152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do suporte de TI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operacionais repetitivas (venda, garantia, devolução) geram chamados que poderiam ser autoatendidos.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240280"/>
            <a:ext cx="594360" cy="594360"/>
          </a:xfrm>
          <a:prstGeom prst="ellipse">
            <a:avLst/>
          </a:prstGeom>
          <a:solidFill>
            <a:srgbClr val="CF152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3017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de resposta no caixa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6576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minuto parado no caixa, buscando um procedimento, impacta a fila e a experiência do cliente.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agente de IA que conhece o Manual DataWeb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conversacional baseado em RAG (Retrieval-Augmented Generation): consulta a base de conhecimento oficial da empresa e responde apenas com base nela — sem inventar procedimentos.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64592" cy="164592"/>
          </a:xfrm>
          <a:prstGeom prst="ellipse">
            <a:avLst/>
          </a:prstGeom>
          <a:solidFill>
            <a:srgbClr val="F6C5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535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em linguagem natural, em segundos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F6C5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Fundamentado 100% na base oficial (sem alucinação)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64592" cy="164592"/>
          </a:xfrm>
          <a:prstGeom prst="ellipse">
            <a:avLst/>
          </a:prstGeom>
          <a:solidFill>
            <a:srgbClr val="F6C5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8736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a qualquer momento, sem depender do suporte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18888"/>
            <a:ext cx="164592" cy="164592"/>
          </a:xfrm>
          <a:prstGeom prst="ellipse">
            <a:avLst/>
          </a:prstGeom>
          <a:solidFill>
            <a:srgbClr val="F6C5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5429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simples, no padrão visual Diniz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6C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2240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“Como faço a baixa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 carnê?”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75320" y="3200400"/>
            <a:ext cx="292608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6C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DO AGENTE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&gt; Baixa de Carnê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Selecione o cliente, confirme a parcela e finalize com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etapas: preparar o conhecimento e responder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1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Ingestão da base de conhecimento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40487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F15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40487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 / Markdown)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93592" y="240487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86200" y="240487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F15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40487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08192" y="240487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240487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F15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0487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22792" y="240487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15400" y="240487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F15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40487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vetorial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(ChromaDB)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e resposta em tempo real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414223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2626"/>
          </a:solidFill>
          <a:ln w="15875">
            <a:solidFill>
              <a:srgbClr val="F6C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1422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93592" y="414223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886200" y="414223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2626"/>
          </a:solidFill>
          <a:ln w="15875">
            <a:solidFill>
              <a:srgbClr val="F6C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41422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vetorial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08192" y="414223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400800" y="414223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2626"/>
          </a:solidFill>
          <a:ln w="15875">
            <a:solidFill>
              <a:srgbClr val="F6C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1422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gera resposta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/ Claude)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22792" y="414223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915400" y="4142232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2626"/>
          </a:solidFill>
          <a:ln w="15875">
            <a:solidFill>
              <a:srgbClr val="F6C5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41422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interface web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nunca responde "de memória": toda resposta é fundamentada nos trechos recuperados da base vetorial.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simples, no padrão visual Diniz</a:t>
            </a:r>
            <a:endParaRPr lang="en-US" sz="3200" dirty="0"/>
          </a:p>
        </p:txBody>
      </p:sp>
      <p:pic>
        <p:nvPicPr>
          <p:cNvPr id="4" name="Image 0" descr="tela_princip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7818120" cy="3438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7818120" cy="3438144"/>
          </a:xfrm>
          <a:prstGeom prst="roundRect">
            <a:avLst>
              <a:gd name="adj" fmla="val 1064"/>
            </a:avLst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0" y="1783080"/>
            <a:ext cx="128016" cy="128016"/>
          </a:xfrm>
          <a:prstGeom prst="ellipse">
            <a:avLst/>
          </a:prstGeom>
          <a:solidFill>
            <a:srgbClr val="CF152D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16550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Atalhos rápidos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1540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Venda, Garantia e Devolução — os 3 temas mais consultados, um clique de distância.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0" y="2971800"/>
            <a:ext cx="128016" cy="128016"/>
          </a:xfrm>
          <a:prstGeom prst="ellipse">
            <a:avLst/>
          </a:prstGeom>
          <a:solidFill>
            <a:srgbClr val="CF152D"/>
          </a:solidFill>
          <a:ln/>
        </p:spPr>
      </p:sp>
      <p:sp>
        <p:nvSpPr>
          <p:cNvPr id="10" name="Text 7"/>
          <p:cNvSpPr/>
          <p:nvPr/>
        </p:nvSpPr>
        <p:spPr>
          <a:xfrm>
            <a:off x="8915400" y="2843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15400" y="3154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cabeçalho mostra quantos trechos da base foram indexados e qual modelo de IA está ativo.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0" y="4160520"/>
            <a:ext cx="128016" cy="128016"/>
          </a:xfrm>
          <a:prstGeom prst="ellipse">
            <a:avLst/>
          </a:prstGeom>
          <a:solidFill>
            <a:srgbClr val="CF152D"/>
          </a:solidFill>
          <a:ln/>
        </p:spPr>
      </p:sp>
      <p:sp>
        <p:nvSpPr>
          <p:cNvPr id="13" name="Text 10"/>
          <p:cNvSpPr/>
          <p:nvPr/>
        </p:nvSpPr>
        <p:spPr>
          <a:xfrm>
            <a:off x="8915400" y="40325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claro/escuro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15400" y="4343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adaptável, pensada para uso prolongado no caixa da loja.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CONHECIMENTO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 trechos indexados a partir de 3 documentos oficiais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21488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6C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7589520" y="32461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trechos vetorizados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oficial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0" y="4160520"/>
            <a:ext cx="256032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4343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Reindexação automática sempre que a base de documentos é atualizada — sem necessidade de retrabalho manual.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O CAPÔ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técnico e engenharia de software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502920"/>
          </a:xfrm>
          <a:prstGeom prst="rect">
            <a:avLst/>
          </a:prstGeom>
          <a:solidFill>
            <a:srgbClr val="CF15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· FastAPI + Uvicorn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em tempo real (SSE)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multilíngues (SentenceTransformers)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vetorial ChromaDB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874520"/>
            <a:ext cx="3520440" cy="502920"/>
          </a:xfrm>
          <a:prstGeom prst="rect">
            <a:avLst/>
          </a:prstGeom>
          <a:solidFill>
            <a:srgbClr val="CF152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Provedores de 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(padrão, alta disponibilidade)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(alternativa)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Retentativas automáticas em picos de uso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modelo via configuração, sem redeploy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874520"/>
            <a:ext cx="3520440" cy="502920"/>
          </a:xfrm>
          <a:prstGeom prst="rect">
            <a:avLst/>
          </a:prstGeom>
          <a:solidFill>
            <a:srgbClr val="CF152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874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&amp; arquitetura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65176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/ princípios SOLID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estrito — proibido "alucinar"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Pós-processamento padroniza a formatação</a:t>
            </a:r>
            <a:endParaRPr lang="en-US" sz="1300" dirty="0"/>
          </a:p>
          <a:p>
            <a:pPr marL="342900" indent="-342900">
              <a:spcAft>
                <a:spcPts val="2600"/>
              </a:spcAft>
              <a:buSzPct val="100000"/>
              <a:buChar char="●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com identidade visual Diniz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QUALIDADE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confiáveis e fáceis de ler no balcão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6C544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848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alucinação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só responde com base nos manuais indexados; quando não há informação suficiente, ele diz isso claramente.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6C544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0848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com destaque, frases curtas e marcadores — pensado para leitura rápida durante o atendimento.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6C544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1422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Rastreável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resposta pode ser conferida contra os trechos da base que a originaram, exibidos na própria interface.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160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6C544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1422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800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automática de estratégia em caso de indisponibilidade temporária do provedor de IA.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e o que falta para colocar em produção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código-fonte e prompt do agente concluídos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vetorial já indexada — 146 fragmentos oficiais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com identidade Diniz funcional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2 provedores de IA (Gemini e Claude)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0" cy="41148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2148840"/>
            <a:ext cx="5303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ambiente em servidor de produção/homologação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 em uma loja selecionada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feedback dos operadores e ajustes finos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demais módulos e lojas da rede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1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ESPERADOS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 para a rede Diniz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chamados repetitivos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volume de chamados de TI sobre dúvidas operacionais já documentadas no manual.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CF152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2402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Atendimento mais ágil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31546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resolve a dúvida no próprio caixa, sem interromper o atendimento ao cliente.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1546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lojas recebem a mesma orientação, direto da fonte oficial — sem variações informais.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CF152D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22402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Escalável para a rede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18320" y="31546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base pode ser estendida a novos módulos e replicada para outras franquias.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9A0F2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F6C544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931920"/>
            <a:ext cx="2011680" cy="0"/>
          </a:xfrm>
          <a:prstGeom prst="line">
            <a:avLst/>
          </a:prstGeom>
          <a:noFill/>
          <a:ln w="38100">
            <a:solidFill>
              <a:srgbClr val="CF15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DataWeb — Módulo Caixa  |  Diniz Franchising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2026-09-10T05:35:36Z</dcterms:created>
  <dcterms:modified xsi:type="dcterms:W3CDTF">2026-09-10T05:35:36Z</dcterms:modified>
</cp:coreProperties>
</file>